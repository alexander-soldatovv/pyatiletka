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ab831913b646a8" /><Relationship Type="http://schemas.openxmlformats.org/officeDocument/2006/relationships/extended-properties" Target="/docProps/app.xml" Id="Rf5d7e2e6d22e422c" /><Relationship Type="http://schemas.openxmlformats.org/officeDocument/2006/relationships/officeDocument" Target="/ppt/presentation.xml" Id="R2efde8fb19d745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ecc7a3ff594075"/>
  </p:sldMasterIdLst>
  <p:notesMasterIdLst>
    <p:notesMasterId xmlns:r="http://schemas.openxmlformats.org/officeDocument/2006/relationships" r:id="Rf6958e8cfb8a463a"/>
  </p:notesMasterIdLst>
  <p:sldIdLst>
    <p:sldId xmlns:r="http://schemas.openxmlformats.org/officeDocument/2006/relationships" id="256" r:id="R4bc128941e3845b1"/>
    <p:sldId xmlns:r="http://schemas.openxmlformats.org/officeDocument/2006/relationships" id="257" r:id="R5e1c42e8d462417f"/>
    <p:sldId xmlns:r="http://schemas.openxmlformats.org/officeDocument/2006/relationships" id="258" r:id="R0e47ddbc297e4e59"/>
    <p:sldId xmlns:r="http://schemas.openxmlformats.org/officeDocument/2006/relationships" id="259" r:id="Re658145a1ebb4749"/>
    <p:sldId xmlns:r="http://schemas.openxmlformats.org/officeDocument/2006/relationships" id="260" r:id="R4ad6410e8df94f04"/>
    <p:sldId xmlns:r="http://schemas.openxmlformats.org/officeDocument/2006/relationships" id="261" r:id="Rfc84b6f5a5c94b63"/>
    <p:sldId xmlns:r="http://schemas.openxmlformats.org/officeDocument/2006/relationships" id="262" r:id="Rabfd330c8c9b47c0"/>
    <p:sldId xmlns:r="http://schemas.openxmlformats.org/officeDocument/2006/relationships" id="263" r:id="R4160193969c6475f"/>
    <p:sldId xmlns:r="http://schemas.openxmlformats.org/officeDocument/2006/relationships" id="264" r:id="R9c38ae8930af42a9"/>
    <p:sldId xmlns:r="http://schemas.openxmlformats.org/officeDocument/2006/relationships" id="265" r:id="R6d2a18c461ad4d21"/>
    <p:sldId xmlns:r="http://schemas.openxmlformats.org/officeDocument/2006/relationships" id="266" r:id="R5ab995243a9442c2"/>
    <p:sldId xmlns:r="http://schemas.openxmlformats.org/officeDocument/2006/relationships" id="267" r:id="Re651f18f43204158"/>
    <p:sldId xmlns:r="http://schemas.openxmlformats.org/officeDocument/2006/relationships" id="268" r:id="Rf714a961547c4f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8fd48688eb4fe8" /><Relationship Type="http://schemas.openxmlformats.org/officeDocument/2006/relationships/slideMaster" Target="/ppt/slideMasters/slideMaster1.xml" Id="R9decc7a3ff594075" /><Relationship Type="http://schemas.openxmlformats.org/officeDocument/2006/relationships/notesMaster" Target="/ppt/notesMasters/notesMaster1.xml" Id="Rf6958e8cfb8a463a" /><Relationship Type="http://schemas.openxmlformats.org/officeDocument/2006/relationships/presProps" Target="/ppt/presProps.xml" Id="R748cd39a997c4a12" /><Relationship Type="http://schemas.openxmlformats.org/officeDocument/2006/relationships/tableStyles" Target="/ppt/tableStyles.xml" Id="Rb265bfe74a4d4a7b" /><Relationship Type="http://schemas.openxmlformats.org/officeDocument/2006/relationships/slide" Target="/ppt/slides/slide1.xml" Id="R4bc128941e3845b1" /><Relationship Type="http://schemas.openxmlformats.org/officeDocument/2006/relationships/slide" Target="/ppt/slides/slide2.xml" Id="R5e1c42e8d462417f" /><Relationship Type="http://schemas.openxmlformats.org/officeDocument/2006/relationships/slide" Target="/ppt/slides/slide3.xml" Id="R0e47ddbc297e4e59" /><Relationship Type="http://schemas.openxmlformats.org/officeDocument/2006/relationships/slide" Target="/ppt/slides/slide4.xml" Id="Re658145a1ebb4749" /><Relationship Type="http://schemas.openxmlformats.org/officeDocument/2006/relationships/slide" Target="/ppt/slides/slide5.xml" Id="R4ad6410e8df94f04" /><Relationship Type="http://schemas.openxmlformats.org/officeDocument/2006/relationships/slide" Target="/ppt/slides/slide6.xml" Id="Rfc84b6f5a5c94b63" /><Relationship Type="http://schemas.openxmlformats.org/officeDocument/2006/relationships/slide" Target="/ppt/slides/slide7.xml" Id="Rabfd330c8c9b47c0" /><Relationship Type="http://schemas.openxmlformats.org/officeDocument/2006/relationships/slide" Target="/ppt/slides/slide8.xml" Id="R4160193969c6475f" /><Relationship Type="http://schemas.openxmlformats.org/officeDocument/2006/relationships/slide" Target="/ppt/slides/slide9.xml" Id="R9c38ae8930af42a9" /><Relationship Type="http://schemas.openxmlformats.org/officeDocument/2006/relationships/slide" Target="/ppt/slides/slide10.xml" Id="R6d2a18c461ad4d21" /><Relationship Type="http://schemas.openxmlformats.org/officeDocument/2006/relationships/slide" Target="/ppt/slides/slide11.xml" Id="R5ab995243a9442c2" /><Relationship Type="http://schemas.openxmlformats.org/officeDocument/2006/relationships/slide" Target="/ppt/slides/slide12.xml" Id="Re651f18f43204158" /><Relationship Type="http://schemas.openxmlformats.org/officeDocument/2006/relationships/slide" Target="/ppt/slides/slide13.xml" Id="Rf714a961547c4f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554f08a29b41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9353aeb0a344da" /><Relationship Type="http://schemas.openxmlformats.org/officeDocument/2006/relationships/notesMaster" Target="/ppt/notesMasters/notesMaster1.xml" Id="R66098aa317e844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9264f8520d45d0" /><Relationship Type="http://schemas.openxmlformats.org/officeDocument/2006/relationships/notesMaster" Target="/ppt/notesMasters/notesMaster1.xml" Id="R03e8cca400eb48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7d30f638594379" /><Relationship Type="http://schemas.openxmlformats.org/officeDocument/2006/relationships/notesMaster" Target="/ppt/notesMasters/notesMaster1.xml" Id="Rd3578fc3cde44a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fc789c38ac476a" /><Relationship Type="http://schemas.openxmlformats.org/officeDocument/2006/relationships/notesMaster" Target="/ppt/notesMasters/notesMaster1.xml" Id="Rff8c424b472d48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a8cb105e66491a" /><Relationship Type="http://schemas.openxmlformats.org/officeDocument/2006/relationships/notesMaster" Target="/ppt/notesMasters/notesMaster1.xml" Id="R4df4113dd4a24d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371c21f65e4ca5" /><Relationship Type="http://schemas.openxmlformats.org/officeDocument/2006/relationships/notesMaster" Target="/ppt/notesMasters/notesMaster1.xml" Id="Ra0694844b6134a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02aa631a234d5f" /><Relationship Type="http://schemas.openxmlformats.org/officeDocument/2006/relationships/notesMaster" Target="/ppt/notesMasters/notesMaster1.xml" Id="Rb80731e1094643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201cf7ef83445e" /><Relationship Type="http://schemas.openxmlformats.org/officeDocument/2006/relationships/notesMaster" Target="/ppt/notesMasters/notesMaster1.xml" Id="R7ac58b00fd384e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c83466efa04dca" /><Relationship Type="http://schemas.openxmlformats.org/officeDocument/2006/relationships/notesMaster" Target="/ppt/notesMasters/notesMaster1.xml" Id="Rc5cfe3a3a98541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7e7aa418a946db" /><Relationship Type="http://schemas.openxmlformats.org/officeDocument/2006/relationships/notesMaster" Target="/ppt/notesMasters/notesMaster1.xml" Id="R8f076a6af5a645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f06727718949e4" /><Relationship Type="http://schemas.openxmlformats.org/officeDocument/2006/relationships/notesMaster" Target="/ppt/notesMasters/notesMaster1.xml" Id="Ra74abaaefac94a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651c8609b740d7" /><Relationship Type="http://schemas.openxmlformats.org/officeDocument/2006/relationships/notesMaster" Target="/ppt/notesMasters/notesMaster1.xml" Id="Rf4344f6bc01640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c8f12c5c294e47" /><Relationship Type="http://schemas.openxmlformats.org/officeDocument/2006/relationships/notesMaster" Target="/ppt/notesMasters/notesMaster1.xml" Id="R7792fc98dfe140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README.md, разделы «Быстрый запуск» и «Сценарий проверки для жюри».</a:t>
            </a:r>
          </a:p>
          <a:p xmlns:a="http://schemas.openxmlformats.org/drawingml/2006/main">
            <a:r>
              <a:t>Токен и рабочие URL намеренно не читаются из .env и должны быть внесены командой вручную.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README.md, описание продукта и дисклеймер.</a:t>
            </a:r>
          </a:p>
          <a:p xmlns:a="http://schemas.openxmlformats.org/drawingml/2006/main">
            <a:r>
              <a:t>Имена и роли команды отсутствуют в переданных материалах и оставлены как поле для заполнения.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TZ.md, разделы 2.1-2.4; README.md, основной сценарий.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TZ.md, разделы 1.4, 2.1, 2.2 и 12; 03_ОПРОС_И_ИНТЕРВЬЮ.md.</a:t>
            </a:r>
          </a:p>
          <a:p xmlns:a="http://schemas.openxmlformats.org/drawingml/2006/main">
            <a:r>
              <a:t>survey/results.md отсутствует. На слайде нет чисел без источника и 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TZ.md, раздел 2.3; README.md, «Внешние сервисы и интеграции».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Скриншоты: docs/screenshots/p8-map.png, p8-tasks.png, p8-task-detail.png, p8-profile.png.</a:t>
            </a:r>
          </a:p>
          <a:p xmlns:a="http://schemas.openxmlformats.org/drawingml/2006/main">
            <a:r>
              <a:t>Демо получено из локального режима npm run demo без токена MAX.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TZ.md, разделы 2.4 и 4.6; README.md, «Данные и приватность».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docs/architecture.md; docs/decisions.md; README.md, архитектурная схема.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docs/provenance.md; data/rules.json; data/regions.json; README.md, «Что модельное, а что нет».</a:t>
            </a:r>
          </a:p>
          <a:p xmlns:a="http://schemas.openxmlformats.org/drawingml/2006/main">
            <a:r>
              <a:t>Первоисточники: 400-ФЗ, ТК РФ ст. 185.1, НК РФ ст. 391 и 407, официальные материалы СФР.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docs/max-features.md; официальная документация MAX Bridge: https://dev.max.ru/docs/webapps/bridge.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docs/scaling.md; data/regions.json; TZ.md, раздел 13.</a:t>
            </a:r>
          </a:p>
          <a:p xmlns:a="http://schemas.openxmlformats.org/drawingml/2006/main">
            <a:r>
              <a:t>Срок одного рабочего дня относится только к малому пакету из 1-3 мер при доступных первоисточниках.</a:t>
            </a:r>
          </a:p>
          <a:p xmlns:a="http://schemas.openxmlformats.org/drawingml/2006/main">
            <a:r>
              <a:t>Партнёрство и пилот не согласованы. На слайде это план, а не факт.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docs/known-limitations.md; docs/blockers.md; docs/p6-report.md; docs/p7-report.md.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Полный реестр: docs/provenance.md.</a:t>
            </a:r>
          </a:p>
          <a:p xmlns:a="http://schemas.openxmlformats.org/drawingml/2006/main">
            <a:r>
              <a:t>Кейс: docs/case.pdf, страницы 9-15.</a:t>
            </a:r>
          </a:p>
          <a:p xmlns:a="http://schemas.openxmlformats.org/drawingml/2006/main">
            <a:r>
              <a:t>MAX: https://dev.max.ru/docs-api; https://dev.max.ru/docs/webapps/bridge; https://dev.max.ru/docs/webapps/validation.</a:t>
            </a:r>
          </a:p>
          <a:p xmlns:a="http://schemas.openxmlformats.org/drawingml/2006/main">
            <a:r>
              <a:t>Нормативные источники: 400-ФЗ, ТК РФ ст. 185.1, НК РФ ст. 391 и 407.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37444760743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2bea0d7f704a81" /><Relationship Type="http://schemas.openxmlformats.org/officeDocument/2006/relationships/slideLayout" Target="/ppt/slideLayouts/slideLayout1.xml" Id="R06d26b07ce2746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d26b07ce2746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f756997a6448f" /><Relationship Type="http://schemas.openxmlformats.org/officeDocument/2006/relationships/notesSlide" Target="/ppt/notesSlides/notesSlide1.xml" Id="Rfa92ffdd884f4e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c69042f5d4260" /><Relationship Type="http://schemas.openxmlformats.org/officeDocument/2006/relationships/image" Target="/ppt/media/image.jpeg" Id="Rec4d5d9511104fd7" /><Relationship Type="http://schemas.openxmlformats.org/officeDocument/2006/relationships/notesSlide" Target="/ppt/notesSlides/notesSlide2.xml" Id="R1c09039110e944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0fa5715ab470f" /><Relationship Type="http://schemas.openxmlformats.org/officeDocument/2006/relationships/notesSlide" Target="/ppt/notesSlides/notesSlide3.xml" Id="R38482188ff4e44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fbffd55464824" /><Relationship Type="http://schemas.openxmlformats.org/officeDocument/2006/relationships/notesSlide" Target="/ppt/notesSlides/notesSlide4.xml" Id="R8979a927241046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71cce31ac4de2" /><Relationship Type="http://schemas.openxmlformats.org/officeDocument/2006/relationships/notesSlide" Target="/ppt/notesSlides/notesSlide5.xml" Id="Rebaf8888894f4f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9892862db4473" /><Relationship Type="http://schemas.openxmlformats.org/officeDocument/2006/relationships/image" Target="/ppt/media/image2.jpeg" Id="R33263cd03fb84915" /><Relationship Type="http://schemas.openxmlformats.org/officeDocument/2006/relationships/image" Target="/ppt/media/image3.jpeg" Id="R8bbf1e8d624747f4" /><Relationship Type="http://schemas.openxmlformats.org/officeDocument/2006/relationships/image" Target="/ppt/media/image4.jpeg" Id="R19889bb91a254663" /><Relationship Type="http://schemas.openxmlformats.org/officeDocument/2006/relationships/image" Target="/ppt/media/image5.jpeg" Id="R2b3c634555de4f73" /><Relationship Type="http://schemas.openxmlformats.org/officeDocument/2006/relationships/notesSlide" Target="/ppt/notesSlides/notesSlide6.xml" Id="R6933c0f13ff247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4ad5ba3ae48b5" /><Relationship Type="http://schemas.openxmlformats.org/officeDocument/2006/relationships/notesSlide" Target="/ppt/notesSlides/notesSlide7.xml" Id="R4cd4f7835b5a42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f697393e349a9" /><Relationship Type="http://schemas.openxmlformats.org/officeDocument/2006/relationships/notesSlide" Target="/ppt/notesSlides/notesSlide8.xml" Id="R640190b63ec140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ebfb4700e44aa" /><Relationship Type="http://schemas.openxmlformats.org/officeDocument/2006/relationships/notesSlide" Target="/ppt/notesSlides/notesSlide9.xml" Id="Re4faf1e22b474e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3cb59d96a4857" /><Relationship Type="http://schemas.openxmlformats.org/officeDocument/2006/relationships/image" Target="/ppt/media/image6.jpeg" Id="Raac3dbe6b10d4bd6" /><Relationship Type="http://schemas.openxmlformats.org/officeDocument/2006/relationships/notesSlide" Target="/ppt/notesSlides/notesSlide10.xml" Id="R2adb4be918ad4a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67d4fffae4354" /><Relationship Type="http://schemas.openxmlformats.org/officeDocument/2006/relationships/notesSlide" Target="/ppt/notesSlides/notesSlide11.xml" Id="Rd2e1fac342bd4e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23b292f114451" /><Relationship Type="http://schemas.openxmlformats.org/officeDocument/2006/relationships/notesSlide" Target="/ppt/notesSlides/notesSlide12.xml" Id="R9ea08c6d10d440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aedd343a74456" /><Relationship Type="http://schemas.openxmlformats.org/officeDocument/2006/relationships/notesSlide" Target="/ppt/notesSlides/notesSlide13.xml" Id="Rbe051acd95d245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8256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AA373-6E83-44F7-B259-C323C9DF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C7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C7F8"/>
                </a:solidFill>
                <a:latin typeface="Arial"/>
                <a:ea typeface="Arial"/>
                <a:cs typeface="Arial"/>
              </a:rPr>
              <a:t>СЛУЖЕБНЫЙ СЛАЙД · НЕ ОЦЕНИВАЕТСЯ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93F27-BA02-4F51-861F-F1FC51F3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открыть и проверить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44B0A-A70E-4160-A6D0-DB2A096E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7C7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C7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74465-2286-4EE0-9070-3B2FE49D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B6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B6F4"/>
                </a:solidFill>
                <a:latin typeface="Arial"/>
                <a:ea typeface="Arial"/>
                <a:cs typeface="Arial"/>
              </a:rPr>
              <a:t>ССЫЛКИ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FFF08-094B-4438-9678-67034362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631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r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Бот в MAX: ВПИШИТЕ ССЫЛКУ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ADF0C-EBE1-4DA0-B1BB-14D0E524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631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r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 App: ВПИШИТЕ HTTPS-АДРЕС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238D8-6036-4863-AE7B-8D1C4A41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631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r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Репозиторий: ВПИШИТЕ GITHUB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DF32D-48FA-4688-AFEC-DC11DFD3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631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r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Commit: 66387c1 (обновить перед сдачей)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DE07D-C9DD-4FF2-A9A7-88438B5E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631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r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Собственный API: не заявляется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56DB7-59DE-4836-B743-C643963A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631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rIns="1143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Токен: ВПИШИТЕ В PDF ВРУЧНУЮ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1CBCD-0369-4B6B-8F61-A473CFA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B6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B6F4"/>
                </a:solidFill>
                <a:latin typeface="Arial"/>
                <a:ea typeface="Arial"/>
                <a:cs typeface="Arial"/>
              </a:rPr>
              <a:t>СЦЕНАРИЙ ПРОВЕРКИ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0050C-D967-41C1-BFA5-6B684962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 Отправить /start и нажать «Составить план»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309D9-6456-4AD7-A4CA-EC388949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 Мужчина · 04.1963 · Москва · работа по найму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5A0F1-4FE4-4C57-A259-34A0FA8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Проверить даты 04.2023 и 04.2028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0CB74-CCDA-4924-9CA2-3C725A2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  Открыть шаг диспансеризации и скопировать текст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AFBB9-0C39-4B1E-BF7F-3AA18FE3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 Отметить шаг, открыть карту в Mini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8ED57-C673-41CE-9C3F-5AD71AD7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  Выполнить /sources, затем /reset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91260-00BF-4B2E-BD27-D4E262F2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48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E4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E4A3"/>
                </a:solidFill>
                <a:latin typeface="Arial"/>
                <a:ea typeface="Arial"/>
                <a:cs typeface="Arial"/>
              </a:rPr>
              <a:t>Запуск: docker compose up --build -d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C45CB-BAF3-43FD-A9E7-90DD8659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6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8D6FA"/>
                </a:solidFill>
                <a:latin typeface="Arial"/>
                <a:ea typeface="Arial"/>
                <a:cs typeface="Arial"/>
              </a:rPr>
              <a:t>Переменные: BOT_TOKEN · BOT_USERNAME · EVENT_SALT · ADMIN_TOKEN</a:t>
            </a:r>
          </a:p>
        </p:txBody>
      </p:sp>
    </p:spTree>
    <p:extLst>
      <p:ext uri="{BB962C8B-B14F-4D97-AF65-F5344CB8AC3E}">
        <p14:creationId xmlns:p14="http://schemas.microsoft.com/office/powerpoint/2010/main" val="1786728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62527-5C4F-4F7B-A26F-1AAD3276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2F2FF-B32F-466B-B183-F42339B4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286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r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256F"/>
                </a:solidFill>
                <a:latin typeface="Arial"/>
                <a:ea typeface="Arial"/>
                <a:cs typeface="Arial"/>
              </a:rPr>
              <a:t>MAX · ЗАБОТА О ЛЮДЯХ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DCDB5-13AF-45C2-8A02-5A3D585D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8256F"/>
                </a:solidFill>
                <a:latin typeface="Arial"/>
                <a:ea typeface="Arial"/>
                <a:cs typeface="Arial"/>
              </a:rPr>
              <a:t>ПЯТИЛЕТКА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9BC27-3305-4C1F-937C-7580A4A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43B"/>
                </a:solidFill>
                <a:latin typeface="Arial"/>
                <a:ea typeface="Arial"/>
                <a:cs typeface="Arial"/>
              </a:rPr>
              <a:t>Личная карта прав за пять лет до пенсии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87184-6E7A-479D-84BB-65CB623E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087"/>
                </a:solidFill>
                <a:latin typeface="Arial"/>
                <a:ea typeface="Arial"/>
                <a:cs typeface="Arial"/>
              </a:rPr>
              <a:t>Даты, действия и напоминания в MAX.</a:t>
            </a:r>
          </a:p>
          <a:p xmlns:a="http://schemas.openxmlformats.org/drawingml/2006/main">
            <a:pPr algn="l">
              <a:defRPr sz="1800" b="0">
                <a:solidFill>
                  <a:srgbClr val="6570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087"/>
                </a:solidFill>
                <a:latin typeface="Arial"/>
                <a:ea typeface="Arial"/>
                <a:cs typeface="Arial"/>
              </a:rPr>
              <a:t>Официальный статус подтверждает СФР.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F418F-2BBB-4705-AB14-A8056621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D9621-2F92-407B-942D-5092187C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52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ВПИШИТЕ: имена и роли участников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33BF9-CFF8-4814-AFEF-97505B9B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62000"/>
            <a:ext cx="3143250" cy="51435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4338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48AAE-AE15-440A-B77C-4516A867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923925"/>
            <a:ext cx="2247900" cy="4667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1320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d5d9511104fd7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1009650"/>
            <a:ext cx="2076450" cy="449580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53C14-7879-496F-9E0E-FED1ABF2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FF7452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745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59724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32DB5-73B1-4180-8909-03F2AFDA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КОРОТКО О РЕШЕНИИ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9BFBD-A411-4758-A7F3-6DD14CF5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Три причины открыть Пятилетку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0CE13-08F3-493F-8609-5C420204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AA36B-F16A-472C-B2F5-E7BED0E7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745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74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696DA-13F1-4892-80AE-4ECA69EE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КОМУ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4BCB1-7D62-4CF8-862E-8F069CB3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219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Работающему человеку</a:t>
            </a:r>
          </a:p>
          <a:p xmlns:a="http://schemas.openxmlformats.org/drawingml/2006/main">
            <a:pPr algn="l">
              <a:defRPr sz="19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за пять лет до пенсии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F5280-F151-4552-920D-A2026C7A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75260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73189-521F-4865-89B4-B0F26BD8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745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74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83DDC-9D13-4570-87C2-A757AD4B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ПОЧЕМУ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73CE2-262C-4802-BD8E-57296930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19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Права и сроки разбросаны</a:t>
            </a:r>
          </a:p>
          <a:p xmlns:a="http://schemas.openxmlformats.org/drawingml/2006/main">
            <a:pPr algn="l">
              <a:defRPr sz="19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между ведомствами и работодателем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41C6E-8616-4841-BCBE-6C1C060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B66A5-898B-470F-97EB-3D277BAA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954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745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74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7B128-B036-4172-B8F5-16F8B8C9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ЧТО ДАЁМ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5AC39-6197-4550-A5AF-E176274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3219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Личную карту действий</a:t>
            </a:r>
          </a:p>
          <a:p xmlns:a="http://schemas.openxmlformats.org/drawingml/2006/main">
            <a:pPr algn="l">
              <a:defRPr sz="19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с датами, источниками и напоминаниями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BAD8A-1423-41F1-A376-9A2505A2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8256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987B3-69BF-4E64-8ED3-B231E8CE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C7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C7F8"/>
                </a:solidFill>
                <a:latin typeface="Arial"/>
                <a:ea typeface="Arial"/>
                <a:cs typeface="Arial"/>
              </a:rPr>
              <a:t>Ожидаемый эффект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5E1FF-EC78-4A62-96DC-A69E378E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Человек заранее видит, что проверить, оформить и не забыть</a:t>
            </a:r>
          </a:p>
        </p:txBody>
      </p:sp>
    </p:spTree>
    <p:extLst>
      <p:ext uri="{BB962C8B-B14F-4D97-AF65-F5344CB8AC3E}">
        <p14:creationId xmlns:p14="http://schemas.microsoft.com/office/powerpoint/2010/main" val="1311360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FB067-4A18-4AD7-9240-865353AB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ЦЕЛЕВАЯ АУДИТОРИЯ И АКТУАЛЬНОСТЬ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871F4-3874-4610-AD22-9DAAD8A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Проблема есть в маршруте, а не в одном сервисе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9B8EB-3670-4A51-8503-629A83C9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3DF48-DAE8-443F-AAE8-2A18D84A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381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r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0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052"/>
                </a:solidFill>
                <a:latin typeface="Arial"/>
                <a:ea typeface="Arial"/>
                <a:cs typeface="Arial"/>
              </a:rPr>
              <a:t>ПРИОРИТЕТНЫЙ СЕГМЕНТ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6F8C4-BB25-40A6-8C81-E5C0E531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33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Работающий по найму гражданин РФ</a:t>
            </a:r>
          </a:p>
          <a:p xmlns:a="http://schemas.openxmlformats.org/drawingml/2006/main">
            <a:pPr algn="l">
              <a:defRPr sz="210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за 5 лет до общеустановленного пенсионного возраста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FD36C-81B3-4E71-995B-1784B5C2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38CA"/>
                </a:solidFill>
                <a:latin typeface="Arial"/>
                <a:ea typeface="Arial"/>
                <a:cs typeface="Arial"/>
              </a:rPr>
              <a:t>СФР · ФНС · работодатель · поликлиника · регион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295C1-D2BD-4518-8A22-C0FEC020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04950"/>
            <a:ext cx="47434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8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B6635-CADB-4373-9B35-04A0F109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28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4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452"/>
                </a:solidFill>
                <a:latin typeface="Arial"/>
                <a:ea typeface="Arial"/>
                <a:cs typeface="Arial"/>
              </a:rPr>
              <a:t>ДАННЫЕ СОБИРАЮТСЯ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2283A-4800-4DE0-B125-DF6A72ED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Результатов опроса пока нет.</a:t>
            </a:r>
          </a:p>
          <a:p xmlns:a="http://schemas.openxmlformats.org/drawingml/2006/main">
            <a:pPr algn="l">
              <a:defRPr sz="19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Числа и доли не подставляем.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04525-C328-4C99-B0CC-38DD9F2A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87"/>
                </a:solidFill>
                <a:latin typeface="Arial"/>
                <a:ea typeface="Arial"/>
                <a:cs typeface="Arial"/>
              </a:rPr>
              <a:t>Проверяем вопросы 9-11: Госуслуги, MAX, кто поможет настроить.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EA4E5-953D-41E2-9D9D-FC54E2F0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8256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39CC2-D4F4-4B19-BD94-286510A3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E4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E4A3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84122-6E75-49A9-92B2-7A45EFB0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Часть прав не используется, а нехватка стажа или баллов обнаруживается поздно.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D69C3-CFA4-4ED6-9648-2864C78C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2440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3E2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2FF"/>
                </a:solidFill>
                <a:latin typeface="Arial"/>
                <a:ea typeface="Arial"/>
                <a:cs typeface="Arial"/>
              </a:rPr>
              <a:t>Риск: аудитория 50+ может не быть в MAX.</a:t>
            </a:r>
          </a:p>
          <a:p xmlns:a="http://schemas.openxmlformats.org/drawingml/2006/main">
            <a:pPr algn="l">
              <a:defRPr sz="1350" b="0">
                <a:solidFill>
                  <a:srgbClr val="E3E2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2FF"/>
                </a:solidFill>
                <a:latin typeface="Arial"/>
                <a:ea typeface="Arial"/>
                <a:cs typeface="Arial"/>
              </a:rPr>
              <a:t>Ответ: настройка для родителя + пилот через HR.</a:t>
            </a:r>
          </a:p>
        </p:txBody>
      </p:sp>
    </p:spTree>
    <p:extLst>
      <p:ext uri="{BB962C8B-B14F-4D97-AF65-F5344CB8AC3E}">
        <p14:creationId xmlns:p14="http://schemas.microsoft.com/office/powerpoint/2010/main" val="1011725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CF452-5ABB-438D-9D30-AF699E10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ИЗМЕНЕНИЕ ПОЛЬЗОВАТЕЛЬСКОГО ПУТИ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4DC31-0E2B-4977-8A39-7FB919E8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От поиска по ведомствам к личной карте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9DE9F-F464-4296-887D-87D1277B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88C3A-1D19-40D1-9E33-24D3383E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4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452"/>
                </a:solidFill>
                <a:latin typeface="Arial"/>
                <a:ea typeface="Arial"/>
                <a:cs typeface="Arial"/>
              </a:rPr>
              <a:t>AS IS · ГИПОТЕЗА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0D83D-ED0E-42A1-81B8-2B92DDD8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04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0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052"/>
                </a:solidFill>
                <a:latin typeface="Arial"/>
                <a:ea typeface="Arial"/>
                <a:cs typeface="Arial"/>
              </a:rPr>
              <a:t>TO BE · ПЯТИЛЕТКА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4BFD4-0B4D-446E-AC0D-4AAF050C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095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Новости и знакомые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A98BD-E25F-4ADD-A023-50B5D6CD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095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Разные кабинеты и сайты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33B0E-7837-4AAC-9736-74DE505A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095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Неясно, когда начинать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6C46F-66BF-442C-A45C-DE00A56B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095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Нет общего напоминания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4CB6E-E02C-497A-B654-034092C0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4552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5 вопросов за один 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8EF22-0883-4D1E-9C09-7FB9DE83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4552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A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Персональные даты и шаги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147E1-B614-413A-9987-66502F23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552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Источник у каждого утверждения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4AACC-E89B-42E7-8B35-FDE21CD2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4552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A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Напоминания и отметки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55999-486A-4AAB-B8BB-361669E3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1295400" cy="819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338C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EB262-187F-4F31-981E-BC00E14B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единый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маршрут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F778B-46A3-46C6-A54E-778AB675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8256F"/>
                </a:solidFill>
                <a:latin typeface="Arial"/>
                <a:ea typeface="Arial"/>
                <a:cs typeface="Arial"/>
              </a:rPr>
              <a:t>Пятилетка не заменяет ведомства. Она показывает порядок действий и ведёт к первоисточнику.</a:t>
            </a:r>
          </a:p>
        </p:txBody>
      </p:sp>
    </p:spTree>
    <p:extLst>
      <p:ext uri="{BB962C8B-B14F-4D97-AF65-F5344CB8AC3E}">
        <p14:creationId xmlns:p14="http://schemas.microsoft.com/office/powerpoint/2010/main" val="627535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8256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56761-6DC6-4201-A9A1-DAFBE1B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C7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C7F8"/>
                </a:solidFill>
                <a:latin typeface="Arial"/>
                <a:ea typeface="Arial"/>
                <a:cs typeface="Arial"/>
              </a:rPr>
              <a:t>РЕШЕНИЕ В ДЕЙСТВИИ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FA840-7659-4377-ACA7-37EE6E19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Четыре экрана, один непрерывный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4CB3C-5FE0-4C74-A2A3-2FF7AA5A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7C7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C7F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4DD37-B673-4420-B27F-D1524F60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906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67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r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· ДАТЫ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917C9-1F1F-486E-A13B-74C9457B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62125"/>
            <a:ext cx="1962150" cy="403860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0E1320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63cd03fb84915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1847850"/>
            <a:ext cx="1790700" cy="38671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23D5D-E635-423B-BCAD-D89D4526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Личная карта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18C26-46F2-46A8-96AA-3B263E5F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433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AA149-0623-46D8-82A2-C6887E37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3906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67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r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· ШАГИ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0E77F-8980-4BE6-A92B-AD32363E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62125"/>
            <a:ext cx="1962150" cy="403860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0E1320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f1e8d624747f4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7150" y="1847850"/>
            <a:ext cx="1790700" cy="38671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29C1A-637A-49F8-972E-C37AA014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4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делать сейчас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D6A52-A84A-49F0-9393-7BD37ED5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433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65447-44F5-49DF-A19A-347C0536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3906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r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· ДЕЙСТВИЕ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2AF59-1ACE-4994-8AEA-785ABFAA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62125"/>
            <a:ext cx="1962150" cy="403860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0E1320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89bb91a254663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1847850"/>
            <a:ext cx="1790700" cy="38671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1516C-86D8-48E1-8742-C3B3A170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4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Текст работодателю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DF782-368A-4E83-90FA-C37727A6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433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6AF7F-8AEB-4934-B3E8-34EADB0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3906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67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r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· ПРОФИЛЬ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22BBD-F3BD-488B-86CD-B7495405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62125"/>
            <a:ext cx="1962150" cy="403860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0E1320"/>
          </a:solidFill>
          <a:ln xmlns:a="http://schemas.openxmlformats.org/drawingml/2006/main" w="0">
            <a:noFill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c634555de4f73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1847850"/>
            <a:ext cx="1790700" cy="38671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71B8A-23E3-4BBA-B1C0-17EC3652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4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Минимум данных</a:t>
            </a:r>
          </a:p>
        </p:txBody>
      </p:sp>
    </p:spTree>
    <p:extLst>
      <p:ext uri="{BB962C8B-B14F-4D97-AF65-F5344CB8AC3E}">
        <p14:creationId xmlns:p14="http://schemas.microsoft.com/office/powerpoint/2010/main" val="2721377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3A606-6FE2-4B4D-8185-BF37B6F9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ЭФФЕКТ И МЕТРИКИ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97681-1F8E-4059-A6BB-077CFFEA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Не обещаем цифры до пилота, но уже умеем измерять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E07AD-DE55-483F-8D13-93E2A85C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87FBB-84B7-423E-807F-E7452257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r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256F"/>
                </a:solidFill>
                <a:latin typeface="Arial"/>
                <a:ea typeface="Arial"/>
                <a:cs typeface="Arial"/>
              </a:rPr>
              <a:t>ГИПОТЕЗА ПИЛОТА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B5C4F-BE6D-43A3-939B-A3B30D1D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76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Знает заранее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E0361-16E8-42DA-9955-23CBDFFA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B2A3B-0E56-486E-AA08-1436E040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76450"/>
            <a:ext cx="276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Делает шаг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1A59F-9774-4767-8264-33185D07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14D18-1782-4032-8500-BDFCA83A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Возвращается вовремя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B2DFA-BA6B-4A96-A1D7-0EAB3D33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ЧТО СЧИТАЕМ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C9282-DDEA-4915-ADC2-7B1662A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Настройка завершена</a:t>
            </a:r>
          </a:p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Шаг отмечен</a:t>
            </a:r>
          </a:p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Возврат по напоминанию</a:t>
            </a:r>
          </a:p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План переслан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65312-A179-48CF-9E17-399478CA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КАК СЧИТАЕМ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49ECF-1663-4FB4-BE93-09F37C3C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5715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События без исходного MAX ID</a:t>
            </a:r>
          </a:p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HMAC-хеш + безопасный тип события</a:t>
            </a:r>
          </a:p>
          <a:p xmlns:a="http://schemas.openxmlformats.org/drawingml/2006/main">
            <a:pPr algn="l">
              <a:defRPr sz="18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Агрегаты доступны под ADMIN_TOKEN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D29A8-4AC1-4ABE-9C3E-5B4A2EA9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4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7452"/>
                </a:solidFill>
                <a:latin typeface="Arial"/>
                <a:ea typeface="Arial"/>
                <a:cs typeface="Arial"/>
              </a:rPr>
              <a:t>Целевые значения появятся только после согласованного пилота.</a:t>
            </a:r>
          </a:p>
        </p:txBody>
      </p:sp>
    </p:spTree>
    <p:extLst>
      <p:ext uri="{BB962C8B-B14F-4D97-AF65-F5344CB8AC3E}">
        <p14:creationId xmlns:p14="http://schemas.microsoft.com/office/powerpoint/2010/main" val="1066257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975AC-E0A3-4667-848B-A29ACA61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617BB-25C8-4C89-A71C-7A513732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Один сервис, два интерфейса, детерминированное ядро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1941A-3E71-4732-9A68-6F4374D2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D992D-BE27-4B32-8FDB-AD836589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825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ПОЛЬЗОВАТЕЛЬ 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FFC3C-9D98-4EC6-8088-7E0DFA82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4478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ЧАТ-БОТ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BCB60-2BF4-4BE8-BC28-14F6E51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MINI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3BEA6-BC3C-4A5D-AE07-3FABC317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14500"/>
            <a:ext cx="3143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338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NODE.JS СЕРВИС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Bot · HTTP · очередь · планировщик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5D1F3-2088-44CA-A8EA-9DA099BC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716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E4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JSON-ПРАВИЛА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DF3EC-317A-4025-B228-7BD35AB1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SQLITE /data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C369F-BCD7-492C-961C-F6E12ACB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4310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F81F8-3A9C-4A34-AEDD-E69FC09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38325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6C25F-E2A4-409B-BA00-BDEA8A83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66975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4F3D0-8773-4C16-AC5D-847BA990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76400"/>
            <a:ext cx="6286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6B47C-CDE9-4FAD-B43C-66DE951A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90800"/>
            <a:ext cx="6286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9854F-0881-41F3-B280-6AFF3A3A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6DEDB-4700-4148-8E11-65FE4487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БЕЗ LLM В ЯДРЕ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A7964-FCA2-4585-8AA2-9385073B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Один профиль даёт один проверяемый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83A2D-0BE5-478A-8557-F3B25529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INITDATA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FF068-756E-4B31-8EA5-29193F9D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MAX ID принимается только после HMAC-проверки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000D1-5D49-47F9-8756-F99F1EC9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OUTBOUND 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91441-4F01-4182-B1BB-899EBC42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148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429 и 5xx повторяются ограниченно</a:t>
            </a:r>
          </a:p>
        </p:txBody>
      </p:sp>
    </p:spTree>
    <p:extLst>
      <p:ext uri="{BB962C8B-B14F-4D97-AF65-F5344CB8AC3E}">
        <p14:creationId xmlns:p14="http://schemas.microsoft.com/office/powerpoint/2010/main" val="1511425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68957-C561-4AFC-94C9-DFAEFEF8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ДАННЫЕ И ДОВЕРИЕ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614E0-566B-4A5A-BB65-FED7E7EE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Показываем происхождение каждого важного утверждения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96A4F-4B5D-4B16-BA52-C3788204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4B2CA-3C26-49E6-BE7A-495F9ACB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323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256F"/>
                </a:solidFill>
                <a:latin typeface="Arial"/>
                <a:ea typeface="Arial"/>
                <a:cs typeface="Arial"/>
              </a:rPr>
              <a:t>БЕРЁМ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E88C2-B79E-45F4-B225-598DCAE8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23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Пол + месяц и год рождения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54A2E-CCF1-40F9-BD5E-33950730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23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Регион и занятость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9445C-C74F-4F65-85C6-7994CBC1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23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Признак досрочного основания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F2033-172C-4229-BEB9-5F9CAA55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00200"/>
            <a:ext cx="323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E4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256F"/>
                </a:solidFill>
                <a:latin typeface="Arial"/>
                <a:ea typeface="Arial"/>
                <a:cs typeface="Arial"/>
              </a:rPr>
              <a:t>МАРКИРУЕМ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10C20-430A-4400-98AB-398581AA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23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Закон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8EC00-92B1-483A-8141-627A131F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323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Рекомендация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10161-7161-4871-8DC8-211841D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323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Модель + дата проверки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672E2-4E0B-4BBC-8CEE-8DEE8639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00200"/>
            <a:ext cx="323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256F"/>
                </a:solidFill>
                <a:latin typeface="Arial"/>
                <a:ea typeface="Arial"/>
                <a:cs typeface="Arial"/>
              </a:rPr>
              <a:t>НЕ ДЕЛАЕМ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AFB14-EAFF-4BE9-9840-DB9D6CD9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323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Нет доступа к Госуслугам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11772-573C-4699-AB8C-33B92C77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323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Нет расчёта размера пенсии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A8D71-D55A-48D9-A8D3-5B7E62B7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0"/>
            <a:ext cx="323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333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Нет СНИЛС, ФИО и документов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AB1D2-F8A7-4F85-88A6-A2BF3EF6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8256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DF0B8-97DE-4DF2-A1E3-9B014AC0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Расчёт ориентировочный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0DFC1-A1D8-4385-86D5-690E4202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911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E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E4A3"/>
                </a:solidFill>
                <a:latin typeface="Arial"/>
                <a:ea typeface="Arial"/>
                <a:cs typeface="Arial"/>
              </a:rPr>
              <a:t>Точный статус и дату подтверждает СФР</a:t>
            </a:r>
          </a:p>
        </p:txBody>
      </p:sp>
    </p:spTree>
    <p:extLst>
      <p:ext uri="{BB962C8B-B14F-4D97-AF65-F5344CB8AC3E}">
        <p14:creationId xmlns:p14="http://schemas.microsoft.com/office/powerpoint/2010/main" val="525354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7CDA0-2703-4C12-8C85-BE8FF43F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РАСШИРЕННОЕ ИСПОЛЬЗОВАНИЕ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F7EF7-240D-4DE0-8795-F21C6381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MAX помогает выполнить действие, а не просто читать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95D31-94A9-440A-AD72-F6108ACA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493D6-834E-4BBC-89F9-8EC37A82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2305050" cy="47815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0E1320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3dbe6b10d4bd6"/>
          <a:srcRect xmlns:a="http://schemas.openxmlformats.org/drawingml/2006/main" l="0" t="78" r="0" b="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1447800"/>
            <a:ext cx="2133600" cy="46101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28E1B-6D46-409B-9060-63D74D99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562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38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D1159-23EF-4FD3-A305-2F5AADFA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43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OPEN_APP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677C4-E056-475C-B52C-F0409177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288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Карта открывается из чата с link-fallback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E3022-D1C9-4FAF-98A0-8BA34C5B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57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1CBDC-F4AB-4BEF-8DA4-917BDB4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CLIPBOARD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EC090-EBBE-47CE-A2CC-6283152C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Текст работодателю копируется одним нажатием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0A7AC-663B-47DB-BB69-433DB41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52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38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C9960-1D7E-4230-8790-C9B08900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SHARE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66204-8642-4098-9911-6BFEBC05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195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План можно отправить родителю или ребёнку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B5207-3BFE-415D-87EF-0EDD17A3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48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38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7115C-89BB-4187-A3BC-E1FE6D4B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HAPTIC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351B3-1834-4F41-BBF9-A2D6CACD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485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Успешное действие подтверждается откликом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17470-00BE-4CE7-B873-4B741016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435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38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D7D0B-C8B9-4CBE-84D0-0429A397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24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BACKBUTTON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4848F-6DEC-4726-ACF7-D13C082B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102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Нативный возврат из карточки к списку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C4291-06A5-41D0-81E6-10479BE1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4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452"/>
                </a:solidFill>
                <a:latin typeface="Arial"/>
                <a:ea typeface="Arial"/>
                <a:cs typeface="Arial"/>
              </a:rPr>
              <a:t>Статус: контрактные тесты пройдены. Реальная iOS / Android / web-проверка ждёт токен и привязанный Mini App.</a:t>
            </a:r>
          </a:p>
        </p:txBody>
      </p:sp>
    </p:spTree>
    <p:extLst>
      <p:ext uri="{BB962C8B-B14F-4D97-AF65-F5344CB8AC3E}">
        <p14:creationId xmlns:p14="http://schemas.microsoft.com/office/powerpoint/2010/main" val="18343760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8256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3C003-CFF4-4438-A7EF-0FEC10E7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C7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C7F8"/>
                </a:solidFill>
                <a:latin typeface="Arial"/>
                <a:ea typeface="Arial"/>
                <a:cs typeface="Arial"/>
              </a:rPr>
              <a:t>МАСШТАБИРОВАНИЕ · 35% ПРОДУКТОВОЙ ОЦЕНКИ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3970A-AC75-4300-97AA-9AB0A234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Ядро не меняется. Регион подключается как пакет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86596-04E4-49E9-8C56-90284CF3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7C7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C7F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0457A-B623-4D96-B622-095D6B1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E4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E4A3"/>
                </a:solidFill>
                <a:latin typeface="Arial"/>
                <a:ea typeface="Arial"/>
                <a:cs typeface="Arial"/>
              </a:rPr>
              <a:t>НЕИЗМЕННОЕ ЯДРО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D0455-12D1-4A86-B064-F6203850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42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вопросов · расчёт · задачи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 App · напоминания · безопасность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E6551-0A3B-40E4-8A38-D92B14A7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E4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E4A3"/>
                </a:solidFill>
                <a:latin typeface="Arial"/>
                <a:ea typeface="Arial"/>
                <a:cs typeface="Arial"/>
              </a:rPr>
              <a:t>ПЕРЕМЕННЫЙ ПАКЕТ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20E83-150D-4B31-A1F1-C6CE6AC0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42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Меры · каналы · документы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условия · источник · дата проверки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E520D-504A-4F6C-B316-052BD8D5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47800"/>
            <a:ext cx="3333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4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1A93D-7A08-45DE-8A86-040E06D9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145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РЕАЛЬНЫЙ ОБЪЕКТ · МОСКВА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15019-23ED-43AF-87B7-F1A3CB5A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27813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33350" r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B"/>
                </a:solidFill>
                <a:latin typeface="Arial"/>
                <a:ea typeface="Arial"/>
                <a:cs typeface="Arial"/>
              </a:rPr>
              <a:t>"moscow": {</a:t>
            </a:r>
          </a:p>
          <a:p xmlns:a="http://schemas.openxmlformats.org/drawingml/2006/main">
            <a:pPr algn="l">
              <a:defRPr sz="1350" b="0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B"/>
                </a:solidFill>
                <a:latin typeface="Arial"/>
                <a:ea typeface="Arial"/>
                <a:cs typeface="Arial"/>
              </a:rPr>
              <a:t>  "label": "Москва",</a:t>
            </a:r>
          </a:p>
          <a:p xmlns:a="http://schemas.openxmlformats.org/drawingml/2006/main">
            <a:pPr algn="l">
              <a:defRPr sz="1350" b="0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B"/>
                </a:solidFill>
                <a:latin typeface="Arial"/>
                <a:ea typeface="Arial"/>
                <a:cs typeface="Arial"/>
              </a:rPr>
              <a:t>  "task_overrides": {</a:t>
            </a:r>
          </a:p>
          <a:p xmlns:a="http://schemas.openxmlformats.org/drawingml/2006/main">
            <a:pPr algn="l">
              <a:defRPr sz="1350" b="0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B"/>
                </a:solidFill>
                <a:latin typeface="Arial"/>
                <a:ea typeface="Arial"/>
                <a:cs typeface="Arial"/>
              </a:rPr>
              <a:t>    "regional_measures": {</a:t>
            </a:r>
          </a:p>
          <a:p xmlns:a="http://schemas.openxmlformats.org/drawingml/2006/main">
            <a:pPr algn="l">
              <a:defRPr sz="1350" b="0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B"/>
                </a:solidFill>
                <a:latin typeface="Arial"/>
                <a:ea typeface="Arial"/>
                <a:cs typeface="Arial"/>
              </a:rPr>
              <a:t>      "checked": "2026-09-29"</a:t>
            </a:r>
          </a:p>
          <a:p xmlns:a="http://schemas.openxmlformats.org/drawingml/2006/main">
            <a:pPr algn="l">
              <a:defRPr sz="1350" b="0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B"/>
                </a:solidFill>
                <a:latin typeface="Arial"/>
                <a:ea typeface="Arial"/>
                <a:cs typeface="Arial"/>
              </a:rPr>
              <a:t>    }</a:t>
            </a:r>
          </a:p>
          <a:p xmlns:a="http://schemas.openxmlformats.org/drawingml/2006/main">
            <a:pPr algn="l">
              <a:defRPr sz="1350" b="0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B"/>
                </a:solidFill>
                <a:latin typeface="Arial"/>
                <a:ea typeface="Arial"/>
                <a:cs typeface="Arial"/>
              </a:rPr>
              <a:t>  }</a:t>
            </a:r>
          </a:p>
          <a:p xmlns:a="http://schemas.openxmlformats.org/drawingml/2006/main">
            <a:pPr algn="l">
              <a:defRPr sz="1350" b="0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B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18137-5764-4361-910B-267FEFD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66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E4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E4A3"/>
                </a:solidFill>
                <a:latin typeface="Arial"/>
                <a:ea typeface="Arial"/>
                <a:cs typeface="Arial"/>
              </a:rPr>
              <a:t>ПОРЯДОК РАСШИРЕНИЯ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D7CD7-5CE6-488F-A522-B8CCAB80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3390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631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Официальные источники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D7A02-5BEC-4C61-86B4-43DC3D5B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3390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631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Факт-чекер и provenance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DAD47-CC58-49AF-8265-B68A490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3390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631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JSON + автотесты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34CCA-8C9E-4C39-8EB5-49468C8B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3390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631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Три профиля + тестовый deploy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78141-BA1F-474B-BC52-41D0B3A8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E0E83-BFD7-4232-B108-0AA56489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8256F"/>
                </a:solidFill>
                <a:latin typeface="Arial"/>
                <a:ea typeface="Arial"/>
                <a:cs typeface="Arial"/>
              </a:rPr>
              <a:t>ПИЛОТ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44601-C775-407D-9081-0FFC3B6F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Работодатель / HR или центр активного долголетия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E6811-EFB2-4811-93EA-92E6DB1C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864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Нужны согласование, владелец данных и регламент обновления</a:t>
            </a:r>
          </a:p>
        </p:txBody>
      </p:sp>
    </p:spTree>
    <p:extLst>
      <p:ext uri="{BB962C8B-B14F-4D97-AF65-F5344CB8AC3E}">
        <p14:creationId xmlns:p14="http://schemas.microsoft.com/office/powerpoint/2010/main" val="9862199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CF2D8-A63B-4D81-8613-4EE6F542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ОГРАНИЧЕНИЯ И РИСКИ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ADEF7-A0CB-41DD-B1E4-FDAC1D75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Честные границы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A45CF-05D9-4D58-90BE-07D1B82A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C3A89-A015-46EB-A83A-528A7AF0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r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256F"/>
                </a:solidFill>
                <a:latin typeface="Arial"/>
                <a:ea typeface="Arial"/>
                <a:cs typeface="Arial"/>
              </a:rPr>
              <a:t>НЕ ПРОВЕРЕНО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02A7A-B9A4-49C1-965E-F755275E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Доля аудитории 50+ в 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7721E-0B51-41B5-9EDD-DA4D5507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04950"/>
            <a:ext cx="436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087"/>
                </a:solidFill>
                <a:latin typeface="Arial"/>
                <a:ea typeface="Arial"/>
                <a:cs typeface="Arial"/>
              </a:rPr>
              <a:t>Опрос + канал «для родителя» + пилот через HR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5ABAF-84C6-4D10-AF55-AD7EAC8F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D3572-50CA-483D-B280-BDDFE748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r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256F"/>
                </a:solidFill>
                <a:latin typeface="Arial"/>
                <a:ea typeface="Arial"/>
                <a:cs typeface="Arial"/>
              </a:rPr>
              <a:t>ОГРАНИЧЕНИЕ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8B778-8555-4253-95B4-A50EF2B2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098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Досрочные основания не рассчитываются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2749C-FE68-4100-B253-3286DA91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436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087"/>
                </a:solidFill>
                <a:latin typeface="Arial"/>
                <a:ea typeface="Arial"/>
                <a:cs typeface="Arial"/>
              </a:rPr>
              <a:t>Показываем предупреждение и направляем в СФР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02333-9836-44B1-BE40-5C408DA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A6E02-A614-4249-A5A6-9BE8532A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r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256F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A5BAE-917B-4AFA-8768-FCA58D95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14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Региональный пакет полноценен только для Москвы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A08DD-A027-424A-8EE2-5F720A1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14750"/>
            <a:ext cx="436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087"/>
                </a:solidFill>
                <a:latin typeface="Arial"/>
                <a:ea typeface="Arial"/>
                <a:cs typeface="Arial"/>
              </a:rPr>
              <a:t>Непроверенное остаётся модельным и видимо пользователю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246C0-6730-4367-8E65-EF83EED4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F19D2-190A-4277-B895-AC6B5226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r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2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256F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EE346-12F8-474D-9FA2-D327D27C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196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Одна реплика и SQLite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3F6F0-521F-4EB5-A5C1-724EFFE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9650"/>
            <a:ext cx="436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087"/>
                </a:solidFill>
                <a:latin typeface="Arial"/>
                <a:ea typeface="Arial"/>
                <a:cs typeface="Arial"/>
              </a:rPr>
              <a:t>Для масштаба: webhook, PostgreSQL и outbox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09E32-10E4-4A65-AC2A-334D9809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4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7452"/>
                </a:solidFill>
                <a:latin typeface="Arial"/>
                <a:ea typeface="Arial"/>
                <a:cs typeface="Arial"/>
              </a:rPr>
              <a:t>Главный внешний блокер: реальная проверка MAX требует токен, публичный HTTPS и привязанный Mini App.</a:t>
            </a:r>
          </a:p>
        </p:txBody>
      </p:sp>
    </p:spTree>
    <p:extLst>
      <p:ext uri="{BB962C8B-B14F-4D97-AF65-F5344CB8AC3E}">
        <p14:creationId xmlns:p14="http://schemas.microsoft.com/office/powerpoint/2010/main" val="16643357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1B9DF-56CF-48B8-A405-4AABAE4A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ПРОВЕРЯЕМОСТЬ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5D737-0602-42A7-BCD8-3D8784D9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Источники и даты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6121D-4208-4888-AD07-612DC6C9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338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338C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A352B-DC6B-4FF1-9367-773D4E03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338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НОРМЫ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B69E1-D473-432A-9AEB-FAB03B9C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23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400-ФЗ: ст. 8, приложения 5 и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0399E-3A46-4572-A7DC-831CFF40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23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ТК РФ: ст. 185.1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AA752-8DDC-4152-B777-7DEDA759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323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НК РФ: ст. 391 и 407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42295-2C24-4E9E-8F83-D139441F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238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338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ОФИЦИАЛЬНЫЕ СЕРВИСЫ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12F2E-B5B6-4D02-9613-85852CA2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23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СФР: sfr.gov.ru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DFF42-0D2B-4DB8-8DC4-4C8AF1D6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323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Госуслуги: gosuslugi.ru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7E1EF-79AE-4DF2-B8A0-0F8F7FEB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33850"/>
            <a:ext cx="323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Москва: mos.ru · Долголетие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E7415-D96A-4F93-9BA7-7C72CC60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3238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745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2FDD2-3C28-41C7-9A3F-6F34B86C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23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dev.max.ru · Bot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0D706-631A-4ACB-858A-51DF2D9A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57550"/>
            <a:ext cx="323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dev.max.ru · Bridge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DBB5B-1552-4BA1-9B51-EFA53E79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33850"/>
            <a:ext cx="323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r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3B"/>
                </a:solidFill>
                <a:latin typeface="Arial"/>
                <a:ea typeface="Arial"/>
                <a:cs typeface="Arial"/>
              </a:rPr>
              <a:t>dev.max.ru · initData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7C599-5CE5-4C11-82E4-BFFC9428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8256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A6AAA-6F06-4ABC-8CA9-B2FAA368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Проверено: нормативные и MAX-источники 29-30.09.2026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96E8A-340B-4592-A45D-AA329C95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245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E4A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E4A3"/>
                </a:solidFill>
                <a:latin typeface="Arial"/>
                <a:ea typeface="Arial"/>
                <a:cs typeface="Arial"/>
              </a:rPr>
              <a:t>Полная трассировка: docs/provenance.md</a:t>
            </a:r>
          </a:p>
        </p:txBody>
      </p:sp>
    </p:spTree>
    <p:extLst>
      <p:ext uri="{BB962C8B-B14F-4D97-AF65-F5344CB8AC3E}">
        <p14:creationId xmlns:p14="http://schemas.microsoft.com/office/powerpoint/2010/main" val="856264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2026-09-30T09:39:21.3070000Z</dcterms:created>
  <dcterms:modified xsi:type="dcterms:W3CDTF">2026-09-30T09:39:21.3070000Z</dcterms:modified>
</coreProperties>
</file>